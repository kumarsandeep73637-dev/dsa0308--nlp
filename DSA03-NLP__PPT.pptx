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1" r:id="rId2"/>
    <p:sldId id="262" r:id="rId3"/>
    <p:sldId id="286" r:id="rId4"/>
    <p:sldId id="263" r:id="rId5"/>
    <p:sldId id="284" r:id="rId6"/>
    <p:sldId id="300" r:id="rId7"/>
    <p:sldId id="287" r:id="rId8"/>
    <p:sldId id="289" r:id="rId9"/>
    <p:sldId id="294" r:id="rId10"/>
    <p:sldId id="301" r:id="rId11"/>
    <p:sldId id="295" r:id="rId12"/>
    <p:sldId id="302" r:id="rId13"/>
    <p:sldId id="296" r:id="rId14"/>
    <p:sldId id="303" r:id="rId15"/>
    <p:sldId id="297" r:id="rId16"/>
    <p:sldId id="298" r:id="rId17"/>
    <p:sldId id="299" r:id="rId18"/>
    <p:sldId id="293" r:id="rId19"/>
    <p:sldId id="27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9371D-E5BA-42D0-9CCB-3B6BBE3C15E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788AE-8BF9-4878-AFD0-09CC48724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586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69A-3101-923D-73BF-C6A8B1CE5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F1438-4FD0-BBB0-3E05-97A9E682B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D994E-1998-3607-9E28-6D49A76B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4EB7C-FD1B-A8CF-ED12-FD32D33E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A8440-2026-198E-7028-9DE44F972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995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E272F-24F8-072E-E11B-EFB959CEF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A7DFC-E0E6-B766-09CE-5D03CE9D3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71519-5447-0D79-E824-ACC5D1A56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9C8AD-999F-C154-4FF1-689BCD4E1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10138-AB85-8D6F-9A6D-49CBEC9B1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03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1B07C-D85F-F252-A8ED-4E319085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DF853-5DDC-1EE3-292E-9001CDB5F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71516-FFFD-187C-42D9-18C16F538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86100-FA77-2AF1-6F27-C196F244D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0D5E9-BEDA-79A3-F95A-FCBDE59B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299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1B4C6-94E3-1BEF-9EA4-FC2A4B978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5C0E1-2976-7195-5275-E9F9DA274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B1B49-72E2-CBED-AF34-CBECAEA41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EE1C0-CD4D-74BC-0539-2E1FD6434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6FCA1-D1CB-95B7-1C15-7FB45DB08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DC3FE-0371-BBC1-23E9-AF005C763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638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07E42-F23F-C1C1-556E-DD22F9D3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B3E5A-84C6-EB0F-DF4F-DCB3F9CE0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42F12-DB00-3CFC-B4C1-A26554819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02FA45-E873-E7B3-A8FE-B770282D4D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EEBDFA-27E7-DAF4-D418-EE8CF1BFD4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0530DC-95F0-32F9-09C5-B0566D945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2D55C6-9345-BF47-4789-79E91BEBC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8BA916-3D55-8435-8DBC-9AC967F9D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87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6B2FC-B6A4-0D5E-6531-58FAC68D8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4B9DE3-968E-51E7-3EC3-4ACB19C6B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AC6E84-25DC-954A-89BB-936F4DD44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7676D0-6471-9640-CC5C-D4C5F9398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162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FA6DE3-D0AB-4722-83A7-07F38369F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D6030D-1ED9-8F1E-F977-0622FF8B7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4D200-B6E9-45DD-29C4-7AE140D77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159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98620-D2AA-DACC-B41B-270EC837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50C73-FC8F-C4F8-EA3F-C87748989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5C06C-A7CE-00C2-EE0C-6494F1C6B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B41F4-137B-42CA-8F43-AE2399183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4C3F5-057A-C1BF-00A3-1ACBEC5F5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F8EEE-AA01-5EF4-DCD2-F5B15603C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758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A93FA-A46A-02C3-CC99-4F6ADC1C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8894AC-D685-FE97-3B31-592C31437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4DC7F-1ECD-1B77-1B46-B46B560C4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1499D-4758-201A-A999-61E1BA0A1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9D794-455C-8F16-FE09-6C7229925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977A8-4E91-BC61-083A-79E04A1D8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810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8D480-4926-9EF0-6F70-9CCEBA40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506DE9-ADF4-B5E5-4A44-4D558AC2A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671BE-052E-A47D-0E03-52C60C36B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BF37C-04BC-35F7-C10B-3F552FE9C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3DCD3-F600-FF02-F890-C9D57D583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406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73BEB5-3C13-2FB8-E9E3-B251C9458E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A2973-9F08-47D2-A22A-285564DDF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58799-1C40-BA9F-2D64-9DA0AC5EC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31C28-BDCF-6E21-F2AA-33FB1AA6A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5C9C7-593D-12EC-F38A-AB7B4E429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132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91DCD5-F451-4449-CF42-CB80ADD3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CB32C-5135-6E45-54E6-83BEC5788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89E3D-484F-A933-8C69-72BF75012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2E5F3-2A74-4CB7-89F3-8DA21791A15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15A46-73BB-9E0F-0CDB-FF9C800AF0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35813-A512-657D-0ADC-1CEBC2E49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408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867228B7-565B-F13E-A100-60ABF6F8B31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72329" y="127820"/>
            <a:ext cx="11847342" cy="102856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ADD363-1108-7B6E-0DD5-E6A8B0E5D370}"/>
              </a:ext>
            </a:extLst>
          </p:cNvPr>
          <p:cNvSpPr txBox="1"/>
          <p:nvPr/>
        </p:nvSpPr>
        <p:spPr>
          <a:xfrm>
            <a:off x="713247" y="1761099"/>
            <a:ext cx="111633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Enterprise Knowledge Assistant using Retrieval-Augmented Generation (RAG) and Natural Language Processing</a:t>
            </a:r>
            <a:endParaRPr lang="en-IN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7483B6-38DB-97AF-D601-CAB499ECEBC2}"/>
              </a:ext>
            </a:extLst>
          </p:cNvPr>
          <p:cNvSpPr txBox="1"/>
          <p:nvPr/>
        </p:nvSpPr>
        <p:spPr>
          <a:xfrm>
            <a:off x="1069053" y="3196811"/>
            <a:ext cx="10255045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DSA0308 – </a:t>
            </a:r>
            <a:r>
              <a:rPr lang="en-IN" sz="20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Natural Language Processing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E53C66-DE0C-949C-C901-6DCAB026E155}"/>
              </a:ext>
            </a:extLst>
          </p:cNvPr>
          <p:cNvSpPr txBox="1"/>
          <p:nvPr/>
        </p:nvSpPr>
        <p:spPr>
          <a:xfrm>
            <a:off x="7853158" y="4371939"/>
            <a:ext cx="4518571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125" lvl="1">
              <a:spcBef>
                <a:spcPts val="550"/>
              </a:spcBef>
            </a:pPr>
            <a:r>
              <a:rPr lang="en-US" sz="2000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Presented by</a:t>
            </a:r>
          </a:p>
          <a:p>
            <a:pPr marL="365125" lvl="1">
              <a:spcBef>
                <a:spcPts val="550"/>
              </a:spcBef>
            </a:pPr>
            <a:r>
              <a:rPr lang="en-US" sz="2000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B Rajesh -192472165</a:t>
            </a:r>
          </a:p>
          <a:p>
            <a:pPr marL="365125" lvl="1">
              <a:spcBef>
                <a:spcPts val="550"/>
              </a:spcBef>
            </a:pPr>
            <a:r>
              <a:rPr lang="en-US" sz="2000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 Sandeep - 192472368</a:t>
            </a:r>
          </a:p>
          <a:p>
            <a:pPr marL="365125" lvl="1">
              <a:spcBef>
                <a:spcPts val="550"/>
              </a:spcBef>
            </a:pPr>
            <a:r>
              <a:rPr lang="en-US" sz="2000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V Nagendra - 192425091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BDD0DF-A9AD-E6A0-F9A2-CCD420466206}"/>
              </a:ext>
            </a:extLst>
          </p:cNvPr>
          <p:cNvSpPr txBox="1"/>
          <p:nvPr/>
        </p:nvSpPr>
        <p:spPr>
          <a:xfrm>
            <a:off x="713247" y="4623274"/>
            <a:ext cx="3050749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125" lvl="1">
              <a:spcBef>
                <a:spcPts val="550"/>
              </a:spcBef>
            </a:pPr>
            <a:r>
              <a:rPr lang="en-US" sz="2000" b="1" dirty="0">
                <a:latin typeface="Times New Roman" panose="02020603050405020304" pitchFamily="18" charset="0"/>
                <a:ea typeface="Times New Roman" panose="02020503050405090304"/>
                <a:cs typeface="Times New Roman" panose="02020603050405020304" pitchFamily="18" charset="0"/>
                <a:sym typeface="Times New Roman" panose="02020503050405090304"/>
              </a:rPr>
              <a:t>Supervisor</a:t>
            </a:r>
          </a:p>
          <a:p>
            <a:pPr marL="365125" lvl="1">
              <a:spcBef>
                <a:spcPts val="550"/>
              </a:spcBef>
            </a:pPr>
            <a:r>
              <a:rPr lang="en-IN" dirty="0"/>
              <a:t>Dr. T. Kumaragurubaran</a:t>
            </a:r>
            <a:endParaRPr lang="en-US" sz="2000" b="1" dirty="0">
              <a:latin typeface="Times New Roman" panose="02020603050405020304" pitchFamily="18" charset="0"/>
              <a:ea typeface="Times New Roman" panose="02020503050405090304"/>
              <a:cs typeface="Times New Roman" panose="02020603050405020304" pitchFamily="18" charset="0"/>
              <a:sym typeface="Times New Roman" panose="02020503050405090304"/>
            </a:endParaRPr>
          </a:p>
        </p:txBody>
      </p:sp>
    </p:spTree>
    <p:extLst>
      <p:ext uri="{BB962C8B-B14F-4D97-AF65-F5344CB8AC3E}">
        <p14:creationId xmlns:p14="http://schemas.microsoft.com/office/powerpoint/2010/main" val="984519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25EC4E9F-142B-E0E9-7317-E77D5834DF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3" name="object 5" descr="object 5">
            <a:extLst>
              <a:ext uri="{FF2B5EF4-FFF2-40B4-BE49-F238E27FC236}">
                <a16:creationId xmlns:a16="http://schemas.microsoft.com/office/drawing/2014/main" id="{02D8F232-4A2A-78DF-3DAF-0BC88E41E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95B28E-909D-4680-0636-756185665F12}"/>
              </a:ext>
            </a:extLst>
          </p:cNvPr>
          <p:cNvSpPr txBox="1"/>
          <p:nvPr/>
        </p:nvSpPr>
        <p:spPr>
          <a:xfrm>
            <a:off x="2774664" y="58139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503050405090304"/>
                <a:cs typeface="Times New Roman" panose="02020503050405090304"/>
                <a:sym typeface="Times New Roman" panose="02020503050405090304"/>
              </a:rPr>
              <a:t>Abstract</a:t>
            </a:r>
            <a:endParaRPr lang="en-IN" sz="32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5520B8A-FEA5-BAD1-6F3C-5F038DF62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25" y="1777071"/>
            <a:ext cx="10693236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Enterprise Knowledge Assistant enables users to access enterprise information quickly using Natural Language Processing (NLP).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 retrieves relevant documents before generating responses, ensuring accurate and reliable answers.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 generate context-aware responses while minimizing hallucinations through document-grounded information.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intelligent document search, question answering, and knowledge summarization across enterprise repositories.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improves employee productivity, decision-making, and overall enterprise knowledge management efficiency.</a:t>
            </a:r>
          </a:p>
        </p:txBody>
      </p:sp>
    </p:spTree>
    <p:extLst>
      <p:ext uri="{BB962C8B-B14F-4D97-AF65-F5344CB8AC3E}">
        <p14:creationId xmlns:p14="http://schemas.microsoft.com/office/powerpoint/2010/main" val="3595777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6B52A-7AC1-0A2D-83DB-7DE495096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87C3A10B-6603-56E2-0CE3-39E27D80D5F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3" name="object 5" descr="object 5">
            <a:extLst>
              <a:ext uri="{FF2B5EF4-FFF2-40B4-BE49-F238E27FC236}">
                <a16:creationId xmlns:a16="http://schemas.microsoft.com/office/drawing/2014/main" id="{E8F7E297-4FE8-BE24-4D4E-D20462C1D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4AFFDC-C607-BE33-6219-092B7BA9212F}"/>
              </a:ext>
            </a:extLst>
          </p:cNvPr>
          <p:cNvSpPr txBox="1"/>
          <p:nvPr/>
        </p:nvSpPr>
        <p:spPr>
          <a:xfrm>
            <a:off x="2715671" y="95072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Introduction</a:t>
            </a:r>
            <a:endParaRPr lang="en-IN" sz="32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5B331AA-1062-DAD6-6711-8EAA4BD62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923" y="1833081"/>
            <a:ext cx="10134154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enterprises generate vast amounts of structured and unstructured data, making information retrieval challenging and time-consuming.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keyword-based search systems often fail to understand user intent, leading to inaccurate and inefficient search results.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 enables the system to understand user queries in natural language and identify their context.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 combines document retrieval with Large Language Models (LLMs) to generate accurate, context-aware responses.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AI-Powered Enterprise Knowledge Assistant improves knowledge access, employee productivity, and organizational decision-making through intelligent information retrieval.</a:t>
            </a:r>
          </a:p>
        </p:txBody>
      </p:sp>
    </p:spTree>
    <p:extLst>
      <p:ext uri="{BB962C8B-B14F-4D97-AF65-F5344CB8AC3E}">
        <p14:creationId xmlns:p14="http://schemas.microsoft.com/office/powerpoint/2010/main" val="4058845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20C73-5411-10EA-31A5-5197CC382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214234C0-D655-A68F-DF28-2DAD1757B70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4" name="object 5" descr="object 5">
            <a:extLst>
              <a:ext uri="{FF2B5EF4-FFF2-40B4-BE49-F238E27FC236}">
                <a16:creationId xmlns:a16="http://schemas.microsoft.com/office/drawing/2014/main" id="{43E874B2-C270-1CBE-4163-91294E7E5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BEE365-38D9-EB2B-5ED7-6739EA787B48}"/>
              </a:ext>
            </a:extLst>
          </p:cNvPr>
          <p:cNvSpPr txBox="1"/>
          <p:nvPr/>
        </p:nvSpPr>
        <p:spPr>
          <a:xfrm>
            <a:off x="2099187" y="429746"/>
            <a:ext cx="6892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</a:t>
            </a:r>
            <a:r>
              <a:rPr lang="en-IN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41925AC-4668-CB30-AB15-0CB05F6FC79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43124" y="1780637"/>
            <a:ext cx="8002542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AI-powered enterprise knowledge assistant for intelligent information retrieval.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Natural Language Processing (NLP) for understanding user queries in natural language.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Retrieval-Augmented Generation (RAG) for accurate, context-aware, and reliable response generation.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document search, question answering, and knowledge summarization from enterprise repositories.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employee productivity, decision-making, and enterprise knowledge management efficiency.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8A50E28-8566-2BBB-192C-C747AD78D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5666" y="2045981"/>
            <a:ext cx="3425219" cy="316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881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40281-2892-F701-E347-221CB9B21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F6B0BE12-6B1F-45E9-0057-6169436D7B0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4" name="object 5" descr="object 5">
            <a:extLst>
              <a:ext uri="{FF2B5EF4-FFF2-40B4-BE49-F238E27FC236}">
                <a16:creationId xmlns:a16="http://schemas.microsoft.com/office/drawing/2014/main" id="{9C7F88C2-2C76-E08E-ECD4-AB5582F20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25340E-0C64-F452-8708-F37DAD95B06F}"/>
              </a:ext>
            </a:extLst>
          </p:cNvPr>
          <p:cNvSpPr txBox="1"/>
          <p:nvPr/>
        </p:nvSpPr>
        <p:spPr>
          <a:xfrm>
            <a:off x="2464949" y="578656"/>
            <a:ext cx="6892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56AF472-A7F2-11B8-AF68-E60907FC5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782" y="1703849"/>
            <a:ext cx="6892413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Enterprises store large volumes of structured and unstructured data, making information retrieval difficult and time-consuming.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keyword-based search systems fail to understand the context and intent behind user queries.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spend excessive time searching across multiple documents, manuals, and knowledge repositories.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AI systems may generate inaccurate or hallucinated responses without using verified enterprise data.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intelligent, context-aware knowledge assistant is needed to provide fast, accurate, and reliable access to enterprise information.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78A1F7-4309-DACF-62E8-C0B024E5BC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52" b="12545"/>
          <a:stretch>
            <a:fillRect/>
          </a:stretch>
        </p:blipFill>
        <p:spPr bwMode="auto">
          <a:xfrm>
            <a:off x="7894320" y="1838960"/>
            <a:ext cx="4043680" cy="333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835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88369C-D457-8D88-446B-F7AD78126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46075F12-74A0-466F-1CD3-C8D75C3D139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7" name="object 5" descr="object 5">
            <a:extLst>
              <a:ext uri="{FF2B5EF4-FFF2-40B4-BE49-F238E27FC236}">
                <a16:creationId xmlns:a16="http://schemas.microsoft.com/office/drawing/2014/main" id="{DA27AD0F-21E9-7FFB-AD10-EF236989C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55854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66489-A104-7B7B-0498-B38FEDFA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A796649A-F62F-6DFB-79FD-A2CC99B381D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73494" cy="1053357"/>
          </a:xfrm>
          <a:prstGeom prst="rect">
            <a:avLst/>
          </a:prstGeom>
        </p:spPr>
      </p:pic>
      <p:pic>
        <p:nvPicPr>
          <p:cNvPr id="3" name="object 5" descr="object 5">
            <a:extLst>
              <a:ext uri="{FF2B5EF4-FFF2-40B4-BE49-F238E27FC236}">
                <a16:creationId xmlns:a16="http://schemas.microsoft.com/office/drawing/2014/main" id="{EE39B941-45CC-75BF-BF36-B45AC0E10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4645" y="0"/>
            <a:ext cx="1327355" cy="1053356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A2402A-586E-E163-144D-6E19DA590624}"/>
              </a:ext>
            </a:extLst>
          </p:cNvPr>
          <p:cNvSpPr txBox="1"/>
          <p:nvPr/>
        </p:nvSpPr>
        <p:spPr>
          <a:xfrm>
            <a:off x="3158779" y="37922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A668F02-C212-CAF1-36D1-CE062AFB6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087440"/>
              </p:ext>
            </p:extLst>
          </p:nvPr>
        </p:nvGraphicFramePr>
        <p:xfrm>
          <a:off x="948979" y="1665150"/>
          <a:ext cx="10515600" cy="42976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1270003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89299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529215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94966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/ Year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Algorithm Used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461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Gao, Y. </a:t>
                      </a:r>
                      <a:r>
                        <a:rPr lang="en-IN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Retrieval-Augmented Generation for Large Language Models: A Survey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RAG, LLM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answer accuracy and reduced hallucinations.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816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Chen, X. </a:t>
                      </a:r>
                      <a:r>
                        <a:rPr lang="en-IN" sz="1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</a:t>
                      </a: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Enterprise Knowledge Management using Large Language Models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NLP, LLM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enterprise knowledge retrieval and decision-making.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38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Wang, H. </a:t>
                      </a:r>
                      <a:r>
                        <a:rPr lang="en-IN" sz="1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</a:t>
                      </a: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Question Answering using RAG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RAG, Vector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Delivered context-aware and reliable responses.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571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Kumar, R. </a:t>
                      </a:r>
                      <a:r>
                        <a:rPr lang="en-IN" sz="1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</a:t>
                      </a: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Enterprise Knowledge Assistant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NLP, RAG, Transformer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document search and employee productivity.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389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0583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54925-755A-9A73-7173-CFA4BE749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1DAB1BE5-03F2-A074-2071-E1345369E5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4" name="object 5" descr="object 5">
            <a:extLst>
              <a:ext uri="{FF2B5EF4-FFF2-40B4-BE49-F238E27FC236}">
                <a16:creationId xmlns:a16="http://schemas.microsoft.com/office/drawing/2014/main" id="{B3A303DE-C462-D9F7-6BB5-B029192F7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AAC56E-2EC0-F66F-DAED-231048E89137}"/>
              </a:ext>
            </a:extLst>
          </p:cNvPr>
          <p:cNvSpPr txBox="1"/>
          <p:nvPr/>
        </p:nvSpPr>
        <p:spPr>
          <a:xfrm>
            <a:off x="2464949" y="671449"/>
            <a:ext cx="6892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10DE76-BB4A-52DB-782A-C163E67E410C}"/>
              </a:ext>
            </a:extLst>
          </p:cNvPr>
          <p:cNvSpPr txBox="1"/>
          <p:nvPr/>
        </p:nvSpPr>
        <p:spPr>
          <a:xfrm>
            <a:off x="2361382" y="2417917"/>
            <a:ext cx="9070586" cy="1845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Acquisition and Document Processing</a:t>
            </a:r>
          </a:p>
          <a:p>
            <a:pPr>
              <a:lnSpc>
                <a:spcPct val="2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Information Retrieval Engine</a:t>
            </a:r>
          </a:p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Question Answering and Knowledge Assistance</a:t>
            </a:r>
          </a:p>
        </p:txBody>
      </p:sp>
    </p:spTree>
    <p:extLst>
      <p:ext uri="{BB962C8B-B14F-4D97-AF65-F5344CB8AC3E}">
        <p14:creationId xmlns:p14="http://schemas.microsoft.com/office/powerpoint/2010/main" val="3229972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B3514AC7-B2D1-A754-C740-34962EB8CEA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5" name="object 5" descr="object 5">
            <a:extLst>
              <a:ext uri="{FF2B5EF4-FFF2-40B4-BE49-F238E27FC236}">
                <a16:creationId xmlns:a16="http://schemas.microsoft.com/office/drawing/2014/main" id="{BB9F4CFB-FE74-B99B-5DC5-AA2AD4936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6C4DAD-A414-5C80-4531-D1FD4F7C89BE}"/>
              </a:ext>
            </a:extLst>
          </p:cNvPr>
          <p:cNvSpPr txBox="1"/>
          <p:nvPr/>
        </p:nvSpPr>
        <p:spPr>
          <a:xfrm>
            <a:off x="2477728" y="728819"/>
            <a:ext cx="7069395" cy="14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Acquisition and Document Processing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FCC539-1684-E843-7460-D40ED85608E6}"/>
              </a:ext>
            </a:extLst>
          </p:cNvPr>
          <p:cNvSpPr txBox="1"/>
          <p:nvPr/>
        </p:nvSpPr>
        <p:spPr>
          <a:xfrm>
            <a:off x="1750141" y="2747549"/>
            <a:ext cx="9118441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enterprise documents such as PDFs, Word files, reports, manuals, and company policies.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text from digital and scanned documents using text extraction or OCR.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Preprocesses the text using tokenization, stop-word removal, and lemmatization.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document content into embeddings using models such as Sentence-BERT (SBERT).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documents and embeddings in document storage and a vector database for later retrieval.</a:t>
            </a:r>
          </a:p>
        </p:txBody>
      </p:sp>
    </p:spTree>
    <p:extLst>
      <p:ext uri="{BB962C8B-B14F-4D97-AF65-F5344CB8AC3E}">
        <p14:creationId xmlns:p14="http://schemas.microsoft.com/office/powerpoint/2010/main" val="1535427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11F08D-C349-1FFB-CDD5-4C9384C16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0" y="30185"/>
            <a:ext cx="12002540" cy="679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366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5" descr="object 5">
            <a:extLst>
              <a:ext uri="{FF2B5EF4-FFF2-40B4-BE49-F238E27FC236}">
                <a16:creationId xmlns:a16="http://schemas.microsoft.com/office/drawing/2014/main" id="{C20E4E0C-2559-3A45-B4B7-26247EDFA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75CBF0E4-C7BA-EADB-F8DB-C10C0986668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A0BC2C-F373-8EB4-A2AE-B7857FCE3715}"/>
              </a:ext>
            </a:extLst>
          </p:cNvPr>
          <p:cNvSpPr txBox="1"/>
          <p:nvPr/>
        </p:nvSpPr>
        <p:spPr>
          <a:xfrm>
            <a:off x="2969342" y="775915"/>
            <a:ext cx="6096000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Retrieval-Augmented Information Retrieval Engine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255DE4-4970-EC89-B165-AC7B2D5F98FC}"/>
              </a:ext>
            </a:extLst>
          </p:cNvPr>
          <p:cNvSpPr txBox="1"/>
          <p:nvPr/>
        </p:nvSpPr>
        <p:spPr>
          <a:xfrm>
            <a:off x="2163096" y="2324762"/>
            <a:ext cx="8416413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the user's natural-language query and converts it into a semantic embedding.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Searches the vector database to find information related to the user's query.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similarity search such as Cosine Similarity and FAISS to identify relevant content.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retrieves the most relevant document chunks from the enterprise knowledge base.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Passes the retrieved information to the LLM to generate a reliable and context-aware response. </a:t>
            </a:r>
          </a:p>
        </p:txBody>
      </p:sp>
    </p:spTree>
    <p:extLst>
      <p:ext uri="{BB962C8B-B14F-4D97-AF65-F5344CB8AC3E}">
        <p14:creationId xmlns:p14="http://schemas.microsoft.com/office/powerpoint/2010/main" val="286490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345806-8C23-5B46-9C5A-C4945E3A2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85" y="11134"/>
            <a:ext cx="11888230" cy="683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496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5" descr="object 5">
            <a:extLst>
              <a:ext uri="{FF2B5EF4-FFF2-40B4-BE49-F238E27FC236}">
                <a16:creationId xmlns:a16="http://schemas.microsoft.com/office/drawing/2014/main" id="{A9B2ABE0-7554-9139-DADF-92D760C3B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24B09667-EF0C-40D1-FFED-6930469B5C6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CD4AAF-F812-64B8-F7F9-E19895C40064}"/>
              </a:ext>
            </a:extLst>
          </p:cNvPr>
          <p:cNvSpPr txBox="1"/>
          <p:nvPr/>
        </p:nvSpPr>
        <p:spPr>
          <a:xfrm>
            <a:off x="3048000" y="660744"/>
            <a:ext cx="6096000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AI-Powered Question Answering and Knowledge Assistance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BEDA67-2120-E663-2673-50A46EEE8506}"/>
              </a:ext>
            </a:extLst>
          </p:cNvPr>
          <p:cNvSpPr txBox="1"/>
          <p:nvPr/>
        </p:nvSpPr>
        <p:spPr>
          <a:xfrm>
            <a:off x="2064772" y="2255087"/>
            <a:ext cx="8731047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Large Language Model (LLM) to understand the user's question and retrieved information.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clear and context-aware answers based on the retrieved enterprise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hallucinations by grounding responses in the organization's documents.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knowledge assistance such as question answering, document summarization, and information discovery.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employee productivity by providing quick and reliable access to organizational knowledge.</a:t>
            </a:r>
          </a:p>
        </p:txBody>
      </p:sp>
    </p:spTree>
    <p:extLst>
      <p:ext uri="{BB962C8B-B14F-4D97-AF65-F5344CB8AC3E}">
        <p14:creationId xmlns:p14="http://schemas.microsoft.com/office/powerpoint/2010/main" val="1504597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7F31A3-78FD-3EBD-4090-594450CBE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19" y="68289"/>
            <a:ext cx="12010161" cy="672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93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8B1208E7-BA34-060E-7B15-238CA0C9E74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5" name="object 5" descr="object 5">
            <a:extLst>
              <a:ext uri="{FF2B5EF4-FFF2-40B4-BE49-F238E27FC236}">
                <a16:creationId xmlns:a16="http://schemas.microsoft.com/office/drawing/2014/main" id="{FE1334C9-3D70-3CFE-6B19-5B30E9CDA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065CA1-8980-5CC0-B875-B999BEE95669}"/>
              </a:ext>
            </a:extLst>
          </p:cNvPr>
          <p:cNvSpPr txBox="1"/>
          <p:nvPr/>
        </p:nvSpPr>
        <p:spPr>
          <a:xfrm>
            <a:off x="5021336" y="966117"/>
            <a:ext cx="1595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BC8233-FB7C-F390-95A3-EA8AE3EB127C}"/>
              </a:ext>
            </a:extLst>
          </p:cNvPr>
          <p:cNvSpPr txBox="1"/>
          <p:nvPr/>
        </p:nvSpPr>
        <p:spPr>
          <a:xfrm>
            <a:off x="1317521" y="2056747"/>
            <a:ext cx="9989576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collects and processes enterprise documents and converts their content into searchable knowledge.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retrieves the most relevant information from the enterprise knowledge base based on the user's natural-language query.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LLM generates accurate, context-aware responses using the retrieved organizational information.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question answering, document search, summarization, and knowledge discovery.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proposed system reduces information-search time, improves employee productivity, and provides efficient enterprise knowledge management.</a:t>
            </a:r>
          </a:p>
        </p:txBody>
      </p:sp>
    </p:spTree>
    <p:extLst>
      <p:ext uri="{BB962C8B-B14F-4D97-AF65-F5344CB8AC3E}">
        <p14:creationId xmlns:p14="http://schemas.microsoft.com/office/powerpoint/2010/main" val="2221792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82DFF561-0651-D66D-FEC1-4E30584C038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5" name="object 5" descr="object 5">
            <a:extLst>
              <a:ext uri="{FF2B5EF4-FFF2-40B4-BE49-F238E27FC236}">
                <a16:creationId xmlns:a16="http://schemas.microsoft.com/office/drawing/2014/main" id="{A518CC47-9054-6B1B-0676-CCA5A461D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05EBEB-41F8-035D-FEF0-C0ACC4F37449}"/>
              </a:ext>
            </a:extLst>
          </p:cNvPr>
          <p:cNvSpPr txBox="1"/>
          <p:nvPr/>
        </p:nvSpPr>
        <p:spPr>
          <a:xfrm>
            <a:off x="1432562" y="2165243"/>
            <a:ext cx="9999406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AI-Powered Enterprise Knowledge Assistant provides an intelligent way to access and manage enterprise information.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helps the system understand user queries, while RAG retrieves relevant information from organizational documents.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generate accurate and context-aware answers based on the retrieved enterprise knowledge.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document searching and information retrieval time, making knowledge access faster and easier.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solution improves employee productivity, decision-making, collaboration, and enterprise knowledge management.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ACF8C4-5DA9-06D4-340A-8143202690CA}"/>
              </a:ext>
            </a:extLst>
          </p:cNvPr>
          <p:cNvSpPr txBox="1"/>
          <p:nvPr/>
        </p:nvSpPr>
        <p:spPr>
          <a:xfrm>
            <a:off x="4915150" y="996894"/>
            <a:ext cx="19920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203224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22631F1A-2001-2D21-1D0D-1CD44C64D1C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5" name="object 5" descr="object 5">
            <a:extLst>
              <a:ext uri="{FF2B5EF4-FFF2-40B4-BE49-F238E27FC236}">
                <a16:creationId xmlns:a16="http://schemas.microsoft.com/office/drawing/2014/main" id="{E13C0672-0D64-1513-8FF3-3C5BE5F21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8CEAF2-9DD5-5B03-D8DD-D412759A955B}"/>
              </a:ext>
            </a:extLst>
          </p:cNvPr>
          <p:cNvSpPr txBox="1"/>
          <p:nvPr/>
        </p:nvSpPr>
        <p:spPr>
          <a:xfrm>
            <a:off x="4868936" y="881233"/>
            <a:ext cx="20844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80196F-DCCD-08B2-B120-7DF7F03A357D}"/>
              </a:ext>
            </a:extLst>
          </p:cNvPr>
          <p:cNvSpPr txBox="1"/>
          <p:nvPr/>
        </p:nvSpPr>
        <p:spPr>
          <a:xfrm>
            <a:off x="1229032" y="1894379"/>
            <a:ext cx="9989574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Support: Extend the assistant to understand and respond in multiple languages for diverse employees.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Interaction: Add speech recognition and voice responses for hands-free and natural communication.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Document Support: Support more formats such as images, spreadsheets, presentations, and scanned documents.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AI and RAG: Use advanced LLMs, better retrieval techniques, and hybrid search to improve accuracy and reduce hallucinations.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Integration: Integrate with platforms such as email, HR systems, CRM, ERP, and internal communication tools for centralized knowledge access.</a:t>
            </a:r>
          </a:p>
        </p:txBody>
      </p:sp>
    </p:spTree>
    <p:extLst>
      <p:ext uri="{BB962C8B-B14F-4D97-AF65-F5344CB8AC3E}">
        <p14:creationId xmlns:p14="http://schemas.microsoft.com/office/powerpoint/2010/main" val="3333592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4FAD0-FA53-FD48-4A7C-7F4AE19C3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799F720E-8224-0A66-D73A-CFB8B0C268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3" name="object 5" descr="object 5">
            <a:extLst>
              <a:ext uri="{FF2B5EF4-FFF2-40B4-BE49-F238E27FC236}">
                <a16:creationId xmlns:a16="http://schemas.microsoft.com/office/drawing/2014/main" id="{8BBE7F70-7088-B60B-93E4-F86BC54B7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58204D-26BC-A53D-8FB5-AD2C88A51C8C}"/>
              </a:ext>
            </a:extLst>
          </p:cNvPr>
          <p:cNvSpPr txBox="1"/>
          <p:nvPr/>
        </p:nvSpPr>
        <p:spPr>
          <a:xfrm>
            <a:off x="2464949" y="276778"/>
            <a:ext cx="6892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FE3080-25FD-8450-53C6-E8F9D0A63BC6}"/>
              </a:ext>
            </a:extLst>
          </p:cNvPr>
          <p:cNvSpPr txBox="1"/>
          <p:nvPr/>
        </p:nvSpPr>
        <p:spPr>
          <a:xfrm>
            <a:off x="643124" y="2002515"/>
            <a:ext cx="11450320" cy="4202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Gao, Y.,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(2023). Retrieval-Augmented Generation for Large Language Models: A Survey.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arXiv:2312.10997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Chen, X.,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(2024). Enterprise Knowledge Management using Large Language Models.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IEEE International Conference on Artificial Intelligence and Knowledge Engineering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 H.,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(2024). Intelligent Question Answering using Retrieval-Augmented Generation.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International Conference on Natural Language Processing and Information Retrieval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Kumar, R.,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(2025). AI-Based Enterprise Knowledge Assistant using NLP and Retrieval-Augmented Generation.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Computer Science and Information Technology (IJCSIT)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Peng, B., Zhu, Y., Liu, Y., Bo, X., Shi, H., Hong, C., Yan, Z., &amp; Tang, S. (2024).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Retrieval-Augmented Generation: A Survey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arXiv:2408.08921. </a:t>
            </a:r>
          </a:p>
        </p:txBody>
      </p:sp>
    </p:spTree>
    <p:extLst>
      <p:ext uri="{BB962C8B-B14F-4D97-AF65-F5344CB8AC3E}">
        <p14:creationId xmlns:p14="http://schemas.microsoft.com/office/powerpoint/2010/main" val="4070264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3A986-59F6-C58A-BB37-88062BBC5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91,900+ Thank You Stock Photos, Pictures &amp; Royalty-Free Images - iStock |  Thank you card, Appreciation, Gratitude">
            <a:extLst>
              <a:ext uri="{FF2B5EF4-FFF2-40B4-BE49-F238E27FC236}">
                <a16:creationId xmlns:a16="http://schemas.microsoft.com/office/drawing/2014/main" id="{2F38719D-D710-07BC-953D-6D5DC7537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097" y="943898"/>
            <a:ext cx="9389806" cy="4719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491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1072</TotalTime>
  <Words>1196</Words>
  <Application>Microsoft Office PowerPoint</Application>
  <PresentationFormat>Widescreen</PresentationFormat>
  <Paragraphs>99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abhishekreedy ankireddy</dc:creator>
  <cp:lastModifiedBy>LAKSHMAN VV</cp:lastModifiedBy>
  <cp:revision>84</cp:revision>
  <dcterms:created xsi:type="dcterms:W3CDTF">2026-02-11T03:50:46Z</dcterms:created>
  <dcterms:modified xsi:type="dcterms:W3CDTF">2026-08-29T05:00:09Z</dcterms:modified>
</cp:coreProperties>
</file>